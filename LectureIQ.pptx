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LectureIQ answers questions about lecture content and shows exactly where each answer came from, down to the second in the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code is public. Next steps focus on ingesting arbitrary audio, scaling to a full term of lectures, and cutting answer latency.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731520"/>
            <a:ext cx="4937760" cy="4937760"/>
          </a:xfrm>
          <a:prstGeom prst="ellipse">
            <a:avLst/>
          </a:prstGeom>
          <a:ln w="19050">
            <a:solidFill>
              <a:srgbClr val="3A35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1554480"/>
            <a:ext cx="3291840" cy="3291840"/>
          </a:xfrm>
          <a:prstGeom prst="ellipse">
            <a:avLst/>
          </a:prstGeom>
          <a:ln w="15875">
            <a:solidFill>
              <a:srgbClr val="3A35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9202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LectureIQ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4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timestamped answers over lecture audio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source, not made up.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49640" y="2331720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E459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49640" y="233172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@2:37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829800" y="2926080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E459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829800" y="292608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@4:33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0" y="3611880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E459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69680" y="361188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@5:26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github.com/Dhruvdubey17/LectureIQ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12984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0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semester of lectures is hours of unstructured audio.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538728" cy="3200400"/>
          </a:xfrm>
          <a:prstGeom prst="roundRect">
            <a:avLst>
              <a:gd name="adj" fmla="val 3429"/>
            </a:avLst>
          </a:prstGeom>
          <a:solidFill>
            <a:srgbClr val="F4F2EF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4380" y="2583180"/>
            <a:ext cx="777240" cy="777240"/>
          </a:xfrm>
          <a:prstGeom prst="ellipse">
            <a:avLst/>
          </a:prstGeom>
          <a:solidFill>
            <a:srgbClr val="201D1B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2715768"/>
            <a:ext cx="512064" cy="512064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798064"/>
            <a:ext cx="0" cy="17373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971800"/>
            <a:ext cx="137160" cy="3657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6616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search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114800"/>
            <a:ext cx="2898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0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one idea means scrubbing through a whole lecture.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79392" y="2286000"/>
            <a:ext cx="3538728" cy="3200400"/>
          </a:xfrm>
          <a:prstGeom prst="roundRect">
            <a:avLst>
              <a:gd name="adj" fmla="val 3429"/>
            </a:avLst>
          </a:prstGeom>
          <a:solidFill>
            <a:srgbClr val="F4F2EF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6572" y="2583180"/>
            <a:ext cx="777240" cy="777240"/>
          </a:xfrm>
          <a:prstGeom prst="ellipse">
            <a:avLst/>
          </a:prstGeom>
          <a:solidFill>
            <a:srgbClr val="201D1B"/>
          </a:solidFill>
          <a:ln/>
        </p:spPr>
      </p:sp>
      <p:sp>
        <p:nvSpPr>
          <p:cNvPr id="13" name="Shape 11"/>
          <p:cNvSpPr/>
          <p:nvPr/>
        </p:nvSpPr>
        <p:spPr>
          <a:xfrm flipV="1">
            <a:off x="4690872" y="2715768"/>
            <a:ext cx="274320" cy="475488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90872" y="3191256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65192" y="2715768"/>
            <a:ext cx="274320" cy="475488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4965192" y="2916936"/>
            <a:ext cx="0" cy="14630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40046" y="3111246"/>
            <a:ext cx="50292" cy="502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99432" y="356616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be made up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4114800"/>
            <a:ext cx="2898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0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tools can state things a lecture never said.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101584" y="2286000"/>
            <a:ext cx="3538728" cy="3200400"/>
          </a:xfrm>
          <a:prstGeom prst="roundRect">
            <a:avLst>
              <a:gd name="adj" fmla="val 3429"/>
            </a:avLst>
          </a:prstGeom>
          <a:solidFill>
            <a:srgbClr val="F4F2EF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98764" y="2583180"/>
            <a:ext cx="777240" cy="777240"/>
          </a:xfrm>
          <a:prstGeom prst="ellipse">
            <a:avLst/>
          </a:prstGeom>
          <a:solidFill>
            <a:srgbClr val="201D1B"/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2990088"/>
            <a:ext cx="109728" cy="128016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8741664" y="2825496"/>
            <a:ext cx="228600" cy="292608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21624" y="356616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proof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8421624" y="4114800"/>
            <a:ext cx="2898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0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answers they can verify at the source.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LectureIQ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get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02920" y="1828800"/>
            <a:ext cx="731520" cy="731520"/>
          </a:xfrm>
          <a:prstGeom prst="ellipse">
            <a:avLst/>
          </a:prstGeom>
          <a:solidFill>
            <a:srgbClr val="F4F2EF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975104"/>
            <a:ext cx="548640" cy="402336"/>
          </a:xfrm>
          <a:prstGeom prst="roundRect">
            <a:avLst>
              <a:gd name="adj" fmla="val 18182"/>
            </a:avLst>
          </a:prstGeom>
          <a:ln w="25400">
            <a:solidFill>
              <a:srgbClr val="201D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2377440"/>
            <a:ext cx="91440" cy="0"/>
          </a:xfrm>
          <a:prstGeom prst="line">
            <a:avLst/>
          </a:prstGeom>
          <a:noFill/>
          <a:ln w="25400">
            <a:solidFill>
              <a:srgbClr val="201D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731520" y="2377440"/>
            <a:ext cx="27432" cy="118872"/>
          </a:xfrm>
          <a:prstGeom prst="line">
            <a:avLst/>
          </a:prstGeom>
          <a:noFill/>
          <a:ln w="25400">
            <a:solidFill>
              <a:srgbClr val="201D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language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86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question and get a direct answer.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063240"/>
            <a:ext cx="731520" cy="731520"/>
          </a:xfrm>
          <a:prstGeom prst="ellipse">
            <a:avLst/>
          </a:prstGeom>
          <a:solidFill>
            <a:srgbClr val="F4F2EF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" y="3154680"/>
            <a:ext cx="402336" cy="548640"/>
          </a:xfrm>
          <a:prstGeom prst="rect">
            <a:avLst/>
          </a:prstGeom>
          <a:ln w="25400">
            <a:solidFill>
              <a:srgbClr val="201D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" y="3337560"/>
            <a:ext cx="219456" cy="0"/>
          </a:xfrm>
          <a:prstGeom prst="line">
            <a:avLst/>
          </a:prstGeom>
          <a:noFill/>
          <a:ln w="19050">
            <a:solidFill>
              <a:srgbClr val="201D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3456432"/>
            <a:ext cx="219456" cy="0"/>
          </a:xfrm>
          <a:prstGeom prst="line">
            <a:avLst/>
          </a:prstGeom>
          <a:noFill/>
          <a:ln w="19050">
            <a:solidFill>
              <a:srgbClr val="201D1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" y="3575304"/>
            <a:ext cx="146304" cy="0"/>
          </a:xfrm>
          <a:prstGeom prst="line">
            <a:avLst/>
          </a:prstGeom>
          <a:noFill/>
          <a:ln w="19050">
            <a:solidFill>
              <a:srgbClr val="201D1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63040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to the lecture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5204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names the lecture it came from.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297680"/>
            <a:ext cx="731520" cy="731520"/>
          </a:xfrm>
          <a:prstGeom prst="ellipse">
            <a:avLst/>
          </a:prstGeom>
          <a:solidFill>
            <a:srgbClr val="F4F2EF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" y="4407408"/>
            <a:ext cx="512064" cy="512064"/>
          </a:xfrm>
          <a:prstGeom prst="ellipse">
            <a:avLst/>
          </a:prstGeom>
          <a:ln w="25400">
            <a:solidFill>
              <a:srgbClr val="201D1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489704"/>
            <a:ext cx="0" cy="173736"/>
          </a:xfrm>
          <a:prstGeom prst="line">
            <a:avLst/>
          </a:prstGeom>
          <a:noFill/>
          <a:ln w="25400">
            <a:solidFill>
              <a:srgbClr val="201D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663440"/>
            <a:ext cx="137160" cy="36576"/>
          </a:xfrm>
          <a:prstGeom prst="line">
            <a:avLst/>
          </a:prstGeom>
          <a:noFill/>
          <a:ln w="25400">
            <a:solidFill>
              <a:srgbClr val="201D1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6304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the second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754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open the video at that exact moment.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03720" y="1783080"/>
            <a:ext cx="4828032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783080"/>
            <a:ext cx="4828032" cy="4160520"/>
          </a:xfrm>
          <a:prstGeom prst="roundRect">
            <a:avLst>
              <a:gd name="adj" fmla="val 2637"/>
            </a:avLst>
          </a:prstGeom>
          <a:ln w="12700">
            <a:solidFill>
              <a:srgbClr val="E2DCD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23760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313432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activation of a neuron represent?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23760" y="3154680"/>
            <a:ext cx="4187952" cy="0"/>
          </a:xfrm>
          <a:prstGeom prst="line">
            <a:avLst/>
          </a:prstGeom>
          <a:noFill/>
          <a:ln w="12700">
            <a:solidFill>
              <a:srgbClr val="E2DCD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2376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0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3566160"/>
            <a:ext cx="4187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0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holds a number between 0 and 1, the grayscale value of the pixel.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23760" y="4782312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E4593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223760" y="4782312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@2:37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0" y="4782312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E4593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29600" y="4782312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@4:33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235440" y="4782312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E4593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235440" y="4782312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@5:26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223760" y="530352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3Blue1Brown, Deep learning chapter 1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LectureIQ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27455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0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travels the whole pipeline in a few seconds.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985266" y="2651760"/>
            <a:ext cx="822960" cy="822960"/>
          </a:xfrm>
          <a:prstGeom prst="ellipse">
            <a:avLst/>
          </a:prstGeom>
          <a:solidFill>
            <a:srgbClr val="201D1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5266" y="280720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30168"/>
            <a:ext cx="16962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95928"/>
            <a:ext cx="1696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or audio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53996" y="2953512"/>
            <a:ext cx="137160" cy="109728"/>
          </a:xfrm>
          <a:prstGeom prst="line">
            <a:avLst/>
          </a:prstGeom>
          <a:noFill/>
          <a:ln w="31750">
            <a:solidFill>
              <a:srgbClr val="C9C1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253996" y="3063240"/>
            <a:ext cx="137160" cy="109728"/>
          </a:xfrm>
          <a:prstGeom prst="line">
            <a:avLst/>
          </a:prstGeom>
          <a:noFill/>
          <a:ln w="31750">
            <a:solidFill>
              <a:srgbClr val="C9C1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64358" y="2651760"/>
            <a:ext cx="822960" cy="822960"/>
          </a:xfrm>
          <a:prstGeom prst="ellipse">
            <a:avLst/>
          </a:prstGeom>
          <a:solidFill>
            <a:srgbClr val="201D1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64358" y="280720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427732" y="3630168"/>
            <a:ext cx="16962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427732" y="3995928"/>
            <a:ext cx="1696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Whisper, with times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33088" y="2953512"/>
            <a:ext cx="137160" cy="109728"/>
          </a:xfrm>
          <a:prstGeom prst="line">
            <a:avLst/>
          </a:prstGeom>
          <a:noFill/>
          <a:ln w="31750">
            <a:solidFill>
              <a:srgbClr val="C9C1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133088" y="3063240"/>
            <a:ext cx="137160" cy="109728"/>
          </a:xfrm>
          <a:prstGeom prst="line">
            <a:avLst/>
          </a:prstGeom>
          <a:noFill/>
          <a:ln w="31750">
            <a:solidFill>
              <a:srgbClr val="C9C1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43450" y="2651760"/>
            <a:ext cx="822960" cy="822960"/>
          </a:xfrm>
          <a:prstGeom prst="ellipse">
            <a:avLst/>
          </a:prstGeom>
          <a:solidFill>
            <a:srgbClr val="201D1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43450" y="280720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306824" y="3630168"/>
            <a:ext cx="16962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306824" y="3995928"/>
            <a:ext cx="1696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start times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12180" y="2953512"/>
            <a:ext cx="137160" cy="109728"/>
          </a:xfrm>
          <a:prstGeom prst="line">
            <a:avLst/>
          </a:prstGeom>
          <a:noFill/>
          <a:ln w="31750">
            <a:solidFill>
              <a:srgbClr val="C9C1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12180" y="3063240"/>
            <a:ext cx="137160" cy="109728"/>
          </a:xfrm>
          <a:prstGeom prst="line">
            <a:avLst/>
          </a:prstGeom>
          <a:noFill/>
          <a:ln w="31750">
            <a:solidFill>
              <a:srgbClr val="C9C1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2542" y="2651760"/>
            <a:ext cx="822960" cy="822960"/>
          </a:xfrm>
          <a:prstGeom prst="ellipse">
            <a:avLst/>
          </a:prstGeom>
          <a:solidFill>
            <a:srgbClr val="201D1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2542" y="280720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185916" y="3630168"/>
            <a:ext cx="16962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185916" y="3995928"/>
            <a:ext cx="1696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891272" y="2953512"/>
            <a:ext cx="137160" cy="109728"/>
          </a:xfrm>
          <a:prstGeom prst="line">
            <a:avLst/>
          </a:prstGeom>
          <a:noFill/>
          <a:ln w="31750">
            <a:solidFill>
              <a:srgbClr val="C9C1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7891272" y="3063240"/>
            <a:ext cx="137160" cy="109728"/>
          </a:xfrm>
          <a:prstGeom prst="line">
            <a:avLst/>
          </a:prstGeom>
          <a:noFill/>
          <a:ln w="31750">
            <a:solidFill>
              <a:srgbClr val="C9C1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1634" y="2651760"/>
            <a:ext cx="822960" cy="822960"/>
          </a:xfrm>
          <a:prstGeom prst="ellipse">
            <a:avLst/>
          </a:prstGeom>
          <a:solidFill>
            <a:srgbClr val="201D1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01634" y="280720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065008" y="3630168"/>
            <a:ext cx="16962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065008" y="3995928"/>
            <a:ext cx="1696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770364" y="2953512"/>
            <a:ext cx="137160" cy="109728"/>
          </a:xfrm>
          <a:prstGeom prst="line">
            <a:avLst/>
          </a:prstGeom>
          <a:noFill/>
          <a:ln w="31750">
            <a:solidFill>
              <a:srgbClr val="C9C1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9770364" y="3063240"/>
            <a:ext cx="137160" cy="109728"/>
          </a:xfrm>
          <a:prstGeom prst="line">
            <a:avLst/>
          </a:prstGeom>
          <a:noFill/>
          <a:ln w="31750">
            <a:solidFill>
              <a:srgbClr val="C9C1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80726" y="2651760"/>
            <a:ext cx="822960" cy="822960"/>
          </a:xfrm>
          <a:prstGeom prst="ellipse">
            <a:avLst/>
          </a:prstGeom>
          <a:solidFill>
            <a:srgbClr val="E4593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380726" y="280720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9944100" y="3630168"/>
            <a:ext cx="16962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944100" y="3995928"/>
            <a:ext cx="1696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LectureIQ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27455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0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source, no claim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13716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4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answers only from retrieved lecture text.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75488" y="265176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C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excerpts do not contain the answer, it says it does not know. It does not fall back on outside knowledge, so every reply traces back to the lecture.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146304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2C2825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949440" y="17556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ANSWER, THREE SOURCES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21031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holds a number between 0 and 1, the grayscale value of the pixel.”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0" y="3246120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E459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49440" y="324612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@2:37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video at this second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3904488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E459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9440" y="3904488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@4:33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3904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video at this second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4562856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E459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49440" y="4562856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@5:26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45628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video at this second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4983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3Blue1Brown, Deep learning chapter 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LectureIQ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4F2EF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0100" y="1943100"/>
            <a:ext cx="868680" cy="868680"/>
          </a:xfrm>
          <a:prstGeom prst="ellipse">
            <a:avLst/>
          </a:prstGeom>
          <a:solidFill>
            <a:srgbClr val="201D1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0100" y="21031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and API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73552" y="160020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4F2EF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6452" y="1943100"/>
            <a:ext cx="868680" cy="868680"/>
          </a:xfrm>
          <a:prstGeom prst="ellipse">
            <a:avLst/>
          </a:prstGeom>
          <a:solidFill>
            <a:srgbClr val="201D1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6452" y="21031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3337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interface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9904" y="160020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4F2EF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32804" y="1943100"/>
            <a:ext cx="868680" cy="868680"/>
          </a:xfrm>
          <a:prstGeom prst="ellipse">
            <a:avLst/>
          </a:prstGeom>
          <a:solidFill>
            <a:srgbClr val="201D1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32804" y="21031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3337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vectors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06256" y="160020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4F2EF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49156" y="1943100"/>
            <a:ext cx="868680" cy="868680"/>
          </a:xfrm>
          <a:prstGeom prst="ellipse">
            <a:avLst/>
          </a:prstGeom>
          <a:solidFill>
            <a:srgbClr val="201D1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49156" y="21031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180576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180576" y="3337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to text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4F2EF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0100" y="4366260"/>
            <a:ext cx="868680" cy="868680"/>
          </a:xfrm>
          <a:prstGeom prst="ellipse">
            <a:avLst/>
          </a:prstGeom>
          <a:solidFill>
            <a:srgbClr val="201D1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" y="4526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394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760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LLM, free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273552" y="402336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4F2EF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16452" y="4366260"/>
            <a:ext cx="868680" cy="868680"/>
          </a:xfrm>
          <a:prstGeom prst="ellipse">
            <a:avLst/>
          </a:prstGeom>
          <a:solidFill>
            <a:srgbClr val="201D1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616452" y="4526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3547872" y="5394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3547872" y="5760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089904" y="402336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4F2EF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32804" y="4366260"/>
            <a:ext cx="868680" cy="868680"/>
          </a:xfrm>
          <a:prstGeom prst="ellipse">
            <a:avLst/>
          </a:prstGeom>
          <a:solidFill>
            <a:srgbClr val="201D1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32804" y="4526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6364224" y="5394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5760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UI, TypeScript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906256" y="402336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4F2EF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249156" y="4366260"/>
            <a:ext cx="868680" cy="868680"/>
          </a:xfrm>
          <a:prstGeom prst="ellipse">
            <a:avLst/>
          </a:prstGeom>
          <a:solidFill>
            <a:srgbClr val="201D1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249156" y="4526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9180576" y="5394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yt-dlp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9180576" y="5760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ingest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LectureIQ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27455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choices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5541264" cy="2148840"/>
          </a:xfrm>
          <a:prstGeom prst="roundRect">
            <a:avLst>
              <a:gd name="adj" fmla="val 4255"/>
            </a:avLst>
          </a:prstGeom>
          <a:solidFill>
            <a:srgbClr val="F4F2EF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5820" y="1943100"/>
            <a:ext cx="502920" cy="502920"/>
          </a:xfrm>
          <a:prstGeom prst="ellipse">
            <a:avLst/>
          </a:prstGeom>
          <a:solidFill>
            <a:srgbClr val="E459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65960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and free by default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4809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0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plus on-device embeddings. No GPU and no API key. Swap to Groq or OpenAI with one setting.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1344" y="1600200"/>
            <a:ext cx="5541264" cy="2148840"/>
          </a:xfrm>
          <a:prstGeom prst="roundRect">
            <a:avLst>
              <a:gd name="adj" fmla="val 4255"/>
            </a:avLst>
          </a:prstGeom>
          <a:solidFill>
            <a:srgbClr val="F4F2EF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69964" y="1943100"/>
            <a:ext cx="502920" cy="502920"/>
          </a:xfrm>
          <a:prstGeom prst="ellipse">
            <a:avLst/>
          </a:prstGeom>
          <a:solidFill>
            <a:srgbClr val="E459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6539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278624" y="1965960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in, one pipeline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47104" y="2651760"/>
            <a:ext cx="4809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0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captions for a fast start. Whisper for any audio file. Both feed the same steps.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5541264" cy="2148840"/>
          </a:xfrm>
          <a:prstGeom prst="roundRect">
            <a:avLst>
              <a:gd name="adj" fmla="val 4255"/>
            </a:avLst>
          </a:prstGeom>
          <a:solidFill>
            <a:srgbClr val="F4F2EF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" y="4384548"/>
            <a:ext cx="502920" cy="502920"/>
          </a:xfrm>
          <a:prstGeom prst="ellipse">
            <a:avLst/>
          </a:prstGeom>
          <a:solidFill>
            <a:srgbClr val="E459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407408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kept end to end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093208"/>
            <a:ext cx="4809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0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chunk keeps its start time, so a citation points to the exact second in the video.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81344" y="4041648"/>
            <a:ext cx="5541264" cy="2148840"/>
          </a:xfrm>
          <a:prstGeom prst="roundRect">
            <a:avLst>
              <a:gd name="adj" fmla="val 4255"/>
            </a:avLst>
          </a:prstGeom>
          <a:solidFill>
            <a:srgbClr val="F4F2EF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69964" y="4384548"/>
            <a:ext cx="502920" cy="502920"/>
          </a:xfrm>
          <a:prstGeom prst="ellipse">
            <a:avLst/>
          </a:prstGeom>
          <a:solidFill>
            <a:srgbClr val="E459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65392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4407408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stay grounded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47104" y="5093208"/>
            <a:ext cx="4809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0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allows only retrieved text, so replies cannot drift away from the lecture.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LectureIQ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0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live: ingested a real lecture and answered with citations at 2:37, 4:33 and 5:26.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2C2825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6060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4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94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C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chunks from 286 caption lines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3552" y="210312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2C2825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56432" y="26060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4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3794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C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9904" y="210312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2C2825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72784" y="26060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4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3794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C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use it: CLI, REST API, web UI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06256" y="210312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2C2825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89136" y="26060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4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3794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C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needed to run it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LectureIQ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640080"/>
            <a:ext cx="3840480" cy="3840480"/>
          </a:xfrm>
          <a:prstGeom prst="ellipse">
            <a:avLst/>
          </a:prstGeom>
          <a:ln w="15875">
            <a:solidFill>
              <a:srgbClr val="3A353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548640" cy="548640"/>
          </a:xfrm>
          <a:prstGeom prst="ellipse">
            <a:avLst/>
          </a:prstGeom>
          <a:solidFill>
            <a:srgbClr val="E459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82880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83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4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Full-audio ingest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945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with cookies where YouTube blocks direct media, then transcribe with Whisper.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862072"/>
            <a:ext cx="548640" cy="548640"/>
          </a:xfrm>
          <a:prstGeom prst="ellipse">
            <a:avLst/>
          </a:prstGeom>
          <a:solidFill>
            <a:srgbClr val="E459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88036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834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4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a term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46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lectures in one index, filtered by course.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913632"/>
            <a:ext cx="548640" cy="548640"/>
          </a:xfrm>
          <a:prstGeom prst="ellipse">
            <a:avLst/>
          </a:prstGeom>
          <a:solidFill>
            <a:srgbClr val="E459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93192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886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4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answers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2976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local model, or Groq for near-instant replies.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40680"/>
            <a:ext cx="11274552" cy="777240"/>
          </a:xfrm>
          <a:prstGeom prst="roundRect">
            <a:avLst>
              <a:gd name="adj" fmla="val 14118"/>
            </a:avLst>
          </a:prstGeom>
          <a:solidFill>
            <a:srgbClr val="2C2825"/>
          </a:solidFill>
          <a:ln/>
          <a:effectLst>
            <a:outerShdw sx="100000" sy="100000" kx="0" ky="0" algn="bl" rotWithShape="0" blurRad="114300" dist="38100" dir="5400000">
              <a:srgbClr val="1A1512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7200" y="544068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github.com/Dhruvdubey17/LectureIQ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LectureIQ</dc:title>
  <dc:subject>Cited, timestamped answers over lecture audio</dc:subject>
  <dc:creator>Dhruv Dubey</dc:creator>
  <cp:lastModifiedBy>Dhruv Dubey</cp:lastModifiedBy>
  <cp:revision>1</cp:revision>
  <dcterms:created xsi:type="dcterms:W3CDTF">2026-09-23T22:55:16Z</dcterms:created>
  <dcterms:modified xsi:type="dcterms:W3CDTF">2026-09-23T22:55:16Z</dcterms:modified>
</cp:coreProperties>
</file>